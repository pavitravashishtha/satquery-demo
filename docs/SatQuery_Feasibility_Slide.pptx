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SatQuery AI — Feasibility at a glance</a:t>
            </a:r>
          </a:p>
          <a:p>
            <a:pPr>
              <a:defRPr sz="1100">
                <a:solidFill>
                  <a:srgbClr val="85EFD0"/>
                </a:solidFill>
                <a:latin typeface="Arial"/>
              </a:defRPr>
            </a:pPr>
            <a:r>
              <a:t>Pre-Implementation Architecture Targets &amp; Comparative Feasibility Projection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15568"/>
            <a:ext cx="1664208" cy="804672"/>
          </a:xfrm>
          <a:prstGeom prst="roundRect">
            <a:avLst/>
          </a:prstGeom>
          <a:solidFill>
            <a:srgbClr val="0B2E33"/>
          </a:solidFill>
          <a:ln w="12700">
            <a:solidFill>
              <a:srgbClr val="1A4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750" b="1">
                <a:solidFill>
                  <a:srgbClr val="A0B9B6"/>
                </a:solidFill>
                <a:latin typeface="Arial"/>
              </a:defRPr>
            </a:pPr>
            <a:r>
              <a:t>TECHNICAL FEASIBILITY</a:t>
            </a:r>
          </a:p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9.5 / 10</a:t>
            </a:r>
          </a:p>
          <a:p>
            <a:pPr algn="ctr">
              <a:defRPr sz="600">
                <a:solidFill>
                  <a:srgbClr val="64878A"/>
                </a:solidFill>
                <a:latin typeface="Arial"/>
              </a:defRPr>
            </a:pPr>
            <a:r>
              <a:t>TARGET PROJECTION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2032" y="1115568"/>
            <a:ext cx="1664208" cy="804672"/>
          </a:xfrm>
          <a:prstGeom prst="roundRect">
            <a:avLst/>
          </a:prstGeom>
          <a:solidFill>
            <a:srgbClr val="0B2E33"/>
          </a:solidFill>
          <a:ln w="12700">
            <a:solidFill>
              <a:srgbClr val="1A4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750" b="1">
                <a:solidFill>
                  <a:srgbClr val="A0B9B6"/>
                </a:solidFill>
                <a:latin typeface="Arial"/>
              </a:defRPr>
            </a:pPr>
            <a:r>
              <a:t>COMPUTE &amp; HARDWARE</a:t>
            </a:r>
          </a:p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10.0 / 10</a:t>
            </a:r>
          </a:p>
          <a:p>
            <a:pPr algn="ctr">
              <a:defRPr sz="600">
                <a:solidFill>
                  <a:srgbClr val="64878A"/>
                </a:solidFill>
                <a:latin typeface="Arial"/>
              </a:defRPr>
            </a:pPr>
            <a:r>
              <a:t>TARGET PROJECTION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115568"/>
            <a:ext cx="1664208" cy="804672"/>
          </a:xfrm>
          <a:prstGeom prst="roundRect">
            <a:avLst/>
          </a:prstGeom>
          <a:solidFill>
            <a:srgbClr val="0B2E33"/>
          </a:solidFill>
          <a:ln w="12700">
            <a:solidFill>
              <a:srgbClr val="1A4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750" b="1">
                <a:solidFill>
                  <a:srgbClr val="A0B9B6"/>
                </a:solidFill>
                <a:latin typeface="Arial"/>
              </a:defRPr>
            </a:pPr>
            <a:r>
              <a:t>RS &amp; DATA</a:t>
            </a:r>
          </a:p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8.5 / 10</a:t>
            </a:r>
          </a:p>
          <a:p>
            <a:pPr algn="ctr">
              <a:defRPr sz="600">
                <a:solidFill>
                  <a:srgbClr val="64878A"/>
                </a:solidFill>
                <a:latin typeface="Arial"/>
              </a:defRPr>
            </a:pPr>
            <a:r>
              <a:t>TARGET PROJECTION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115568"/>
            <a:ext cx="1664208" cy="804672"/>
          </a:xfrm>
          <a:prstGeom prst="roundRect">
            <a:avLst/>
          </a:prstGeom>
          <a:solidFill>
            <a:srgbClr val="0B2E33"/>
          </a:solidFill>
          <a:ln w="12700">
            <a:solidFill>
              <a:srgbClr val="1A4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750" b="1">
                <a:solidFill>
                  <a:srgbClr val="A0B9B6"/>
                </a:solidFill>
                <a:latin typeface="Arial"/>
              </a:defRPr>
            </a:pPr>
            <a:r>
              <a:t>ECONOMIC VIABILITY</a:t>
            </a:r>
          </a:p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9.5 / 10</a:t>
            </a:r>
          </a:p>
          <a:p>
            <a:pPr algn="ctr">
              <a:defRPr sz="600">
                <a:solidFill>
                  <a:srgbClr val="64878A"/>
                </a:solidFill>
                <a:latin typeface="Arial"/>
              </a:defRPr>
            </a:pPr>
            <a:r>
              <a:t>TARGET PROJECTION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115568"/>
            <a:ext cx="1664208" cy="804672"/>
          </a:xfrm>
          <a:prstGeom prst="roundRect">
            <a:avLst/>
          </a:prstGeom>
          <a:solidFill>
            <a:srgbClr val="0B2E33"/>
          </a:solidFill>
          <a:ln w="12700">
            <a:solidFill>
              <a:srgbClr val="1A4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750" b="1">
                <a:solidFill>
                  <a:srgbClr val="A0B9B6"/>
                </a:solidFill>
                <a:latin typeface="Arial"/>
              </a:defRPr>
            </a:pPr>
            <a:r>
              <a:t>MARKET FIT</a:t>
            </a:r>
          </a:p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9.0 / 10</a:t>
            </a:r>
          </a:p>
          <a:p>
            <a:pPr algn="ctr">
              <a:defRPr sz="600">
                <a:solidFill>
                  <a:srgbClr val="64878A"/>
                </a:solidFill>
                <a:latin typeface="Arial"/>
              </a:defRPr>
            </a:pPr>
            <a:r>
              <a:t>TARGET PROJECTION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115568"/>
            <a:ext cx="1664208" cy="804672"/>
          </a:xfrm>
          <a:prstGeom prst="roundRect">
            <a:avLst/>
          </a:prstGeom>
          <a:solidFill>
            <a:srgbClr val="0D403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750" b="1">
                <a:solidFill>
                  <a:srgbClr val="10B981"/>
                </a:solidFill>
                <a:latin typeface="Arial"/>
              </a:defRPr>
            </a:pPr>
            <a:r>
              <a:t>OVERALL TARGET</a:t>
            </a:r>
          </a:p>
          <a:p>
            <a:pPr algn="ctr">
              <a:defRPr sz="1400" b="1">
                <a:solidFill>
                  <a:srgbClr val="85EFD0"/>
                </a:solidFill>
                <a:latin typeface="Arial"/>
              </a:defRPr>
            </a:pPr>
            <a:r>
              <a:t>9.3 / 10</a:t>
            </a:r>
          </a:p>
          <a:p>
            <a:pPr algn="ctr">
              <a:defRPr sz="600">
                <a:solidFill>
                  <a:srgbClr val="10B981"/>
                </a:solidFill>
                <a:latin typeface="Arial"/>
              </a:defRPr>
            </a:pPr>
            <a:r>
              <a:t>SYSTEM GOAL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84831"/>
            <a:ext cx="5230368" cy="2148840"/>
          </a:xfrm>
          <a:prstGeom prst="roundRect">
            <a:avLst/>
          </a:prstGeom>
          <a:solidFill>
            <a:srgbClr val="0B2E33"/>
          </a:solidFill>
          <a:ln w="12700">
            <a:solidFill>
              <a:srgbClr val="1A4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6459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Projected VRAM budget (6GB target)</a:t>
            </a:r>
          </a:p>
          <a:p>
            <a:pPr>
              <a:defRPr sz="800">
                <a:solidFill>
                  <a:srgbClr val="85EFD0"/>
                </a:solidFill>
                <a:latin typeface="Arial"/>
              </a:defRPr>
            </a:pPr>
            <a:r>
              <a:t>Total Memory Axis Capped at 5.64 GB (Usable RTX 4050 Ceiling)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97480"/>
            <a:ext cx="1250652" cy="502920"/>
          </a:xfrm>
          <a:prstGeom prst="rect">
            <a:avLst/>
          </a:prstGeom>
          <a:solidFill>
            <a:srgbClr val="186E64"/>
          </a:solidFill>
          <a:ln w="12700">
            <a:solidFill>
              <a:srgbClr val="0B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1.45GB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5052" y="2697480"/>
            <a:ext cx="2087296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0B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2.42GB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2348" y="2697480"/>
            <a:ext cx="1035022" cy="502920"/>
          </a:xfrm>
          <a:prstGeom prst="rect">
            <a:avLst/>
          </a:prstGeom>
          <a:solidFill>
            <a:srgbClr val="289196"/>
          </a:solidFill>
          <a:ln w="12700">
            <a:solidFill>
              <a:srgbClr val="0B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1.20GB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87370" y="2697480"/>
            <a:ext cx="491635" cy="502920"/>
          </a:xfrm>
          <a:prstGeom prst="rect">
            <a:avLst/>
          </a:prstGeom>
          <a:solidFill>
            <a:srgbClr val="50B4A0"/>
          </a:solidFill>
          <a:ln w="12700">
            <a:solidFill>
              <a:srgbClr val="0B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0.57GB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4864608" cy="411480"/>
          </a:xfrm>
          <a:prstGeom prst="rect">
            <a:avLst/>
          </a:prstGeom>
          <a:noFill/>
        </p:spPr>
        <p:txBody>
          <a:bodyPr wrap="none" tIns="0" lIns="0" rIns="0" bIns="0">
            <a:spAutoFit/>
          </a:bodyPr>
          <a:lstStyle/>
          <a:p>
            <a:pPr>
              <a:defRPr sz="750">
                <a:solidFill>
                  <a:srgbClr val="A0B9B6"/>
                </a:solidFill>
                <a:latin typeface="Arial"/>
              </a:defRPr>
            </a:pPr>
            <a:r>
              <a:t>■ Interpreter (1.45GB)    ■ Vision (2.42GB)    ■ Workspace (1.20GB)    ■ Safety Headroom (0.57GB)</a:t>
            </a:r>
          </a:p>
          <a:p>
            <a:pPr>
              <a:defRPr sz="800" i="1">
                <a:solidFill>
                  <a:srgbClr val="85EFD0"/>
                </a:solidFill>
                <a:latin typeface="Arial"/>
              </a:defRPr>
            </a:pPr>
            <a:r>
              <a:t>Caption: Projected from published model sizes — not yet a measured 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84831"/>
            <a:ext cx="5230368" cy="2148840"/>
          </a:xfrm>
          <a:prstGeom prst="roundRect">
            <a:avLst/>
          </a:prstGeom>
          <a:solidFill>
            <a:srgbClr val="0B2E33"/>
          </a:solidFill>
          <a:ln w="12700">
            <a:solidFill>
              <a:srgbClr val="1A4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6459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Projected monthly compute cost</a:t>
            </a:r>
          </a:p>
          <a:p>
            <a:pPr>
              <a:defRPr sz="800">
                <a:solidFill>
                  <a:srgbClr val="85EFD0"/>
                </a:solidFill>
                <a:latin typeface="Arial"/>
              </a:defRPr>
            </a:pPr>
            <a:r>
              <a:t>Continuous 24/7 Hosting Comparison (USD/month target projection)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873110"/>
            <a:ext cx="841248" cy="949081"/>
          </a:xfrm>
          <a:prstGeom prst="rect">
            <a:avLst/>
          </a:prstGeom>
          <a:solidFill>
            <a:srgbClr val="5A7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17078"/>
            <a:ext cx="1024128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$2,642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67911"/>
            <a:ext cx="1024128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750">
                <a:solidFill>
                  <a:srgbClr val="A0B9B6"/>
                </a:solidFill>
                <a:latin typeface="Arial"/>
              </a:defRPr>
            </a:pPr>
            <a:r>
              <a:t>A100 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337233"/>
            <a:ext cx="841248" cy="484958"/>
          </a:xfrm>
          <a:prstGeom prst="rect">
            <a:avLst/>
          </a:prstGeom>
          <a:solidFill>
            <a:srgbClr val="5A7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3081201"/>
            <a:ext cx="1024128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$1,350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867911"/>
            <a:ext cx="1024128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750">
                <a:solidFill>
                  <a:srgbClr val="A0B9B6"/>
                </a:solidFill>
                <a:latin typeface="Arial"/>
              </a:defRPr>
            </a:pPr>
            <a:r>
              <a:t>Multi-API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3749987"/>
            <a:ext cx="841248" cy="72204"/>
          </a:xfrm>
          <a:prstGeom prst="rect">
            <a:avLst/>
          </a:prstGeom>
          <a:solidFill>
            <a:srgbClr val="5A7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1392" y="3493955"/>
            <a:ext cx="1024128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$201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3867911"/>
            <a:ext cx="1024128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750">
                <a:solidFill>
                  <a:srgbClr val="A0B9B6"/>
                </a:solidFill>
                <a:latin typeface="Arial"/>
              </a:defRPr>
            </a:pPr>
            <a:r>
              <a:t>Cloud micro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68128" y="3767327"/>
            <a:ext cx="84124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3511295"/>
            <a:ext cx="1024128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  <a:latin typeface="Arial"/>
              </a:defRPr>
            </a:pPr>
            <a:r>
              <a:t>$0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3867911"/>
            <a:ext cx="1024128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750">
                <a:solidFill>
                  <a:srgbClr val="10B981"/>
                </a:solidFill>
                <a:latin typeface="Arial"/>
              </a:defRPr>
            </a:pPr>
            <a:r>
              <a:t>Local edge</a:t>
            </a:r>
            <a:br/>
            <a:r>
              <a:t>(proposed)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4370832"/>
          <a:ext cx="10728655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920240"/>
                <a:gridCol w="1920240"/>
                <a:gridCol w="1950415"/>
              </a:tblGrid>
              <a:tr h="347471"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 / Dimension</a:t>
                      </a:r>
                    </a:p>
                  </a:txBody>
                  <a:tcPr anchor="ctr">
                    <a:solidFill>
                      <a:srgbClr val="0926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SatQuery AI (proposed)</a:t>
                      </a:r>
                    </a:p>
                  </a:txBody>
                  <a:tcPr anchor="ctr">
                    <a:solidFill>
                      <a:srgbClr val="1050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GPT-4o / Gemini 1.5</a:t>
                      </a:r>
                    </a:p>
                  </a:txBody>
                  <a:tcPr anchor="ctr">
                    <a:solidFill>
                      <a:srgbClr val="0926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Prithvi-100M (NASA)</a:t>
                      </a:r>
                    </a:p>
                  </a:txBody>
                  <a:tcPr anchor="ctr">
                    <a:solidFill>
                      <a:srgbClr val="0926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EarthGPT</a:t>
                      </a:r>
                    </a:p>
                  </a:txBody>
                  <a:tcPr anchor="ctr">
                    <a:solidFill>
                      <a:srgbClr val="09262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Runs on 6GB laptop GPU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5EFD0"/>
                          </a:solidFill>
                          <a:latin typeface="Arial"/>
                        </a:defRPr>
                      </a:pPr>
                      <a:r>
                        <a:t>Target: yes</a:t>
                      </a:r>
                    </a:p>
                  </a:txBody>
                  <a:tcPr anchor="ctr">
                    <a:solidFill>
                      <a:srgbClr val="0C3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No (Cloud API)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Backbone only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No (≥24GB)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Raw SAR ingestion</a:t>
                      </a:r>
                    </a:p>
                  </a:txBody>
                  <a:tcPr anchor="ctr">
                    <a:solidFill>
                      <a:srgbClr val="0820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5EFD0"/>
                          </a:solidFill>
                          <a:latin typeface="Arial"/>
                        </a:defRPr>
                      </a:pPr>
                      <a:r>
                        <a:t>Target: yes</a:t>
                      </a:r>
                    </a:p>
                  </a:txBody>
                  <a:tcPr anchor="ctr">
                    <a:solidFill>
                      <a:srgbClr val="0C3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0820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0820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082024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Bitemporal change VQA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5EFD0"/>
                          </a:solidFill>
                          <a:latin typeface="Arial"/>
                        </a:defRPr>
                      </a:pPr>
                      <a:r>
                        <a:t>Target: yes</a:t>
                      </a:r>
                    </a:p>
                  </a:txBody>
                  <a:tcPr anchor="ctr">
                    <a:solidFill>
                      <a:srgbClr val="0C3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Unreliable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Detection only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Uncalibrated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Explainable evidence</a:t>
                      </a:r>
                    </a:p>
                  </a:txBody>
                  <a:tcPr anchor="ctr">
                    <a:solidFill>
                      <a:srgbClr val="0820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5EFD0"/>
                          </a:solidFill>
                          <a:latin typeface="Arial"/>
                        </a:defRPr>
                      </a:pPr>
                      <a:r>
                        <a:t>Target: yes</a:t>
                      </a:r>
                    </a:p>
                  </a:txBody>
                  <a:tcPr anchor="ctr">
                    <a:solidFill>
                      <a:srgbClr val="0C3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0820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0820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082024"/>
                    </a:solidFill>
                  </a:tcPr>
                </a:tc>
              </a:tr>
              <a:tr h="34747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Offline / air-gapped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5EFD0"/>
                          </a:solidFill>
                          <a:latin typeface="Arial"/>
                        </a:defRPr>
                      </a:pPr>
                      <a:r>
                        <a:t>Target: yes</a:t>
                      </a:r>
                    </a:p>
                  </a:txBody>
                  <a:tcPr anchor="ctr">
                    <a:solidFill>
                      <a:srgbClr val="0C3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A0B9B6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061A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